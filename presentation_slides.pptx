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embeddedFontLst>
    <p:embeddedFont>
      <p:font typeface="Helvetica Neue" panose="02010600030101010101" charset="0"/>
      <p:regular r:id="rId25"/>
      <p:bold r:id="rId26"/>
      <p:italic r:id="rId27"/>
      <p:boldItalic r:id="rId28"/>
    </p:embeddedFont>
    <p:embeddedFont>
      <p:font typeface="Merriweather" panose="00000500000000000000" pitchFamily="2" charset="0"/>
      <p:regular r:id="rId29"/>
      <p:bold r:id="rId30"/>
      <p:italic r:id="rId31"/>
      <p:boldItalic r:id="rId32"/>
    </p:embeddedFont>
    <p:embeddedFont>
      <p:font typeface="Roboto" panose="02000000000000000000" pitchFamily="2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1CF6281-E6D7-4C04-850D-27825DA9023C}">
  <a:tblStyle styleId="{91CF6281-E6D7-4C04-850D-27825DA9023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707DE10-15DF-4BC5-B357-16A096A1921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52" y="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ce08c5574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ce08c55742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e08c55742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ce08c55742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ce08c55742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ce08c55742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e08c55742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ce08c55742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e08c55742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ce08c55742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ce08c55742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ce08c55742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e08c55742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ce08c55742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e08c55742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ce08c55742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e08c55742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ce08c55742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e08c55742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ce08c55742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ce08c55742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ce08c55742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ce08c55742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ce08c55742_0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ce08c55742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ce08c55742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ce08c55742_0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ce08c55742_0_2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ce08c55742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ce08c55742_0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ce08c55742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ce08c55742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ce08c55742_0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ce08c55742_0_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ce08c55742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ce08c55742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ce08c55742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ce08c55742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ce374b473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ce374b473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ce08c55742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ce08c55742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avLst/>
            <a:gdLst/>
            <a:ahLst/>
            <a:cxnLst/>
            <a:rect l="l" t="t" r="r" b="b"/>
            <a:pathLst>
              <a:path w="172545" h="175975" extrusionOk="0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avLst/>
            <a:gdLst/>
            <a:ahLst/>
            <a:cxnLst/>
            <a:rect l="l" t="t" r="r" b="b"/>
            <a:pathLst>
              <a:path w="172676" h="175824" extrusionOk="0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2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2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body" idx="1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 hasCustomPrompt="1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losing Slide Shield">
  <p:cSld name="Closing Slide Shield">
    <p:bg>
      <p:bgPr>
        <a:solidFill>
          <a:srgbClr val="F4F0EC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61;p13"/>
          <p:cNvGrpSpPr/>
          <p:nvPr/>
        </p:nvGrpSpPr>
        <p:grpSpPr>
          <a:xfrm>
            <a:off x="3911568" y="-1575672"/>
            <a:ext cx="6288303" cy="8137803"/>
            <a:chOff x="3946487" y="-2045539"/>
            <a:chExt cx="8193228" cy="10603000"/>
          </a:xfrm>
        </p:grpSpPr>
        <p:pic>
          <p:nvPicPr>
            <p:cNvPr id="62" name="Google Shape;62;p13"/>
            <p:cNvPicPr preferRelativeResize="0"/>
            <p:nvPr/>
          </p:nvPicPr>
          <p:blipFill rotWithShape="1">
            <a:blip r:embed="rId2">
              <a:alphaModFix amt="30000"/>
            </a:blip>
            <a:srcRect/>
            <a:stretch/>
          </p:blipFill>
          <p:spPr>
            <a:xfrm>
              <a:off x="3946487" y="-2045539"/>
              <a:ext cx="8193228" cy="10603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" name="Google Shape;63;p13"/>
            <p:cNvPicPr preferRelativeResize="0"/>
            <p:nvPr/>
          </p:nvPicPr>
          <p:blipFill rotWithShape="1">
            <a:blip r:embed="rId3">
              <a:alphaModFix amt="15000"/>
            </a:blip>
            <a:srcRect/>
            <a:stretch/>
          </p:blipFill>
          <p:spPr>
            <a:xfrm>
              <a:off x="5173001" y="758028"/>
              <a:ext cx="5641846" cy="493661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4" name="Google Shape;64;p13"/>
          <p:cNvGrpSpPr/>
          <p:nvPr/>
        </p:nvGrpSpPr>
        <p:grpSpPr>
          <a:xfrm>
            <a:off x="0" y="4797349"/>
            <a:ext cx="9144000" cy="353080"/>
            <a:chOff x="0" y="6396465"/>
            <a:chExt cx="9144000" cy="470774"/>
          </a:xfrm>
        </p:grpSpPr>
        <p:sp>
          <p:nvSpPr>
            <p:cNvPr id="65" name="Google Shape;65;p13"/>
            <p:cNvSpPr/>
            <p:nvPr/>
          </p:nvSpPr>
          <p:spPr>
            <a:xfrm>
              <a:off x="0" y="6401039"/>
              <a:ext cx="9144000" cy="466200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cxnSp>
          <p:nvCxnSpPr>
            <p:cNvPr id="66" name="Google Shape;66;p13"/>
            <p:cNvCxnSpPr/>
            <p:nvPr/>
          </p:nvCxnSpPr>
          <p:spPr>
            <a:xfrm>
              <a:off x="0" y="6396465"/>
              <a:ext cx="9144000" cy="0"/>
            </a:xfrm>
            <a:prstGeom prst="straightConnector1">
              <a:avLst/>
            </a:prstGeom>
            <a:noFill/>
            <a:ln w="9525" cap="flat" cmpd="sng">
              <a:solidFill>
                <a:srgbClr val="D6D6CE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8515349" y="4842573"/>
            <a:ext cx="460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body" idx="1"/>
          </p:nvPr>
        </p:nvSpPr>
        <p:spPr>
          <a:xfrm>
            <a:off x="699331" y="1823196"/>
            <a:ext cx="3872700" cy="14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7676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69" name="Google Shape;69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046" y="4739269"/>
            <a:ext cx="1398201" cy="486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body" idx="1"/>
          </p:nvPr>
        </p:nvSpPr>
        <p:spPr>
          <a:xfrm>
            <a:off x="628650" y="1268730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  <a:defRPr sz="24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/>
              <a:buChar char="•"/>
              <a:defRPr sz="20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•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Arial"/>
              <a:buChar char="•"/>
              <a:defRPr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Font typeface="Arial"/>
              <a:buChar char="•"/>
              <a:defRPr sz="14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sldNum" idx="12"/>
          </p:nvPr>
        </p:nvSpPr>
        <p:spPr>
          <a:xfrm>
            <a:off x="8515349" y="4842573"/>
            <a:ext cx="460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title"/>
          </p:nvPr>
        </p:nvSpPr>
        <p:spPr>
          <a:xfrm>
            <a:off x="628650" y="4858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Helvetica Neue"/>
              <a:buNone/>
              <a:defRPr sz="36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radigm">
    <p:bg>
      <p:bgPr>
        <a:solidFill>
          <a:srgbClr val="F4F0EC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body" idx="1"/>
          </p:nvPr>
        </p:nvSpPr>
        <p:spPr>
          <a:xfrm>
            <a:off x="420024" y="2838975"/>
            <a:ext cx="3494100" cy="1122600"/>
          </a:xfrm>
          <a:prstGeom prst="rect">
            <a:avLst/>
          </a:prstGeom>
        </p:spPr>
        <p:txBody>
          <a:bodyPr spcFirstLastPara="1" wrap="square" lIns="0" tIns="45700" rIns="0" bIns="45700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Yanran Qiu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MACSS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Mar 8, MACS 30100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ctrTitle" idx="4294967295"/>
          </p:nvPr>
        </p:nvSpPr>
        <p:spPr>
          <a:xfrm>
            <a:off x="322525" y="1127877"/>
            <a:ext cx="4361400" cy="13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Predicting Customer Ratings of Beauty Products Based on Amazon Reviews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322525" y="3961575"/>
            <a:ext cx="5787900" cy="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7676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Link to the video recording of the presentation: </a:t>
            </a:r>
            <a:endParaRPr sz="1000">
              <a:solidFill>
                <a:srgbClr val="7676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7676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https://drive.google.com/file/d/13UVpUAcbJJElUE4-2sxq4pm5DOtbvrPA/view?usp=sharing</a:t>
            </a:r>
            <a:endParaRPr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628650" y="4858"/>
            <a:ext cx="7886700" cy="994200"/>
          </a:xfrm>
          <a:prstGeom prst="rect">
            <a:avLst/>
          </a:prstGeom>
        </p:spPr>
        <p:txBody>
          <a:bodyPr spcFirstLastPara="1" wrap="square" lIns="0" tIns="45700" rIns="0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Research Questions</a:t>
            </a:r>
            <a:endParaRPr sz="2400"/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628650" y="1268725"/>
            <a:ext cx="7886700" cy="3666900"/>
          </a:xfrm>
          <a:prstGeom prst="rect">
            <a:avLst/>
          </a:prstGeom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 b="1"/>
              <a:t>Motivation: </a:t>
            </a:r>
            <a:r>
              <a:rPr lang="en" sz="1500"/>
              <a:t>Online customer reviews contain rich information about how users experience products, yet much of this information is unstructured and difficult to interpret at scale.</a:t>
            </a:r>
            <a:endParaRPr sz="15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 b="1"/>
              <a:t>RQ 1:</a:t>
            </a:r>
            <a:r>
              <a:rPr lang="en" sz="1500"/>
              <a:t> Can customer review text be used to </a:t>
            </a:r>
            <a:r>
              <a:rPr lang="en" sz="1500" b="1"/>
              <a:t>predict</a:t>
            </a:r>
            <a:r>
              <a:rPr lang="en" sz="1500"/>
              <a:t> whether a review corresponds to a high or low product rating?</a:t>
            </a:r>
            <a:endParaRPr sz="1500"/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supervised machine learning task</a:t>
            </a:r>
            <a:endParaRPr sz="1500"/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classification task</a:t>
            </a:r>
            <a:endParaRPr sz="1500"/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Logistic Regression, Decision Tree, Random Forest</a:t>
            </a:r>
            <a:endParaRPr sz="15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 b="1"/>
              <a:t>RQ2:</a:t>
            </a:r>
            <a:r>
              <a:rPr lang="en" sz="1500"/>
              <a:t> What are the distinct rating </a:t>
            </a:r>
            <a:r>
              <a:rPr lang="en" sz="1500" b="1"/>
              <a:t>dimensions</a:t>
            </a:r>
            <a:r>
              <a:rPr lang="en" sz="1500"/>
              <a:t> that customers emphasize when reviewing beauty products?</a:t>
            </a:r>
            <a:endParaRPr sz="1500"/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unsupervised machine learning task</a:t>
            </a:r>
            <a:endParaRPr sz="1500"/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topic modeling task</a:t>
            </a:r>
            <a:endParaRPr sz="1500"/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BERTopic</a:t>
            </a:r>
            <a:endParaRPr sz="15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 b="1"/>
              <a:t>RQ3: </a:t>
            </a:r>
            <a:r>
              <a:rPr lang="en" sz="1500"/>
              <a:t>How are individual products rated on each dimension based on the predicted rating and topics?</a:t>
            </a:r>
            <a:endParaRPr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>
            <a:spLocks noGrp="1"/>
          </p:cNvSpPr>
          <p:nvPr>
            <p:ph type="title"/>
          </p:nvPr>
        </p:nvSpPr>
        <p:spPr>
          <a:xfrm>
            <a:off x="628650" y="4858"/>
            <a:ext cx="7886700" cy="994200"/>
          </a:xfrm>
          <a:prstGeom prst="rect">
            <a:avLst/>
          </a:prstGeom>
        </p:spPr>
        <p:txBody>
          <a:bodyPr spcFirstLastPara="1" wrap="square" lIns="0" tIns="45700" rIns="0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Data</a:t>
            </a:r>
            <a:endParaRPr sz="2400"/>
          </a:p>
        </p:txBody>
      </p:sp>
      <p:sp>
        <p:nvSpPr>
          <p:cNvPr id="92" name="Google Shape;92;p17"/>
          <p:cNvSpPr txBox="1">
            <a:spLocks noGrp="1"/>
          </p:cNvSpPr>
          <p:nvPr>
            <p:ph type="body" idx="1"/>
          </p:nvPr>
        </p:nvSpPr>
        <p:spPr>
          <a:xfrm>
            <a:off x="628650" y="1268730"/>
            <a:ext cx="7886700" cy="3263400"/>
          </a:xfrm>
          <a:prstGeom prst="rect">
            <a:avLst/>
          </a:prstGeom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 b="1"/>
              <a:t>Data source: </a:t>
            </a:r>
            <a:endParaRPr sz="1500" b="1"/>
          </a:p>
          <a:p>
            <a:pPr marL="457200" lvl="0" indent="-3238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Amazon Reviews 2023 dataset collected in 2023</a:t>
            </a:r>
            <a:endParaRPr sz="1500"/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Use a subset of the review dataset for the All_Beauty category, with 14405 reviews posted in 2023</a:t>
            </a:r>
            <a:endParaRPr sz="1500"/>
          </a:p>
          <a:p>
            <a:pPr marL="91440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ensuring computational feasibility by reducing the sample size</a:t>
            </a:r>
            <a:endParaRPr sz="1500"/>
          </a:p>
          <a:p>
            <a:pPr marL="91440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optimizing the classifier for contemporary review analysis</a:t>
            </a: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>
            <a:spLocks noGrp="1"/>
          </p:cNvSpPr>
          <p:nvPr>
            <p:ph type="title"/>
          </p:nvPr>
        </p:nvSpPr>
        <p:spPr>
          <a:xfrm>
            <a:off x="628650" y="4858"/>
            <a:ext cx="7886700" cy="994200"/>
          </a:xfrm>
          <a:prstGeom prst="rect">
            <a:avLst/>
          </a:prstGeom>
        </p:spPr>
        <p:txBody>
          <a:bodyPr spcFirstLastPara="1" wrap="square" lIns="0" tIns="45700" rIns="0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Data</a:t>
            </a:r>
            <a:endParaRPr sz="2400"/>
          </a:p>
        </p:txBody>
      </p:sp>
      <p:sp>
        <p:nvSpPr>
          <p:cNvPr id="98" name="Google Shape;98;p18"/>
          <p:cNvSpPr txBox="1">
            <a:spLocks noGrp="1"/>
          </p:cNvSpPr>
          <p:nvPr>
            <p:ph type="body" idx="1"/>
          </p:nvPr>
        </p:nvSpPr>
        <p:spPr>
          <a:xfrm>
            <a:off x="628650" y="1268730"/>
            <a:ext cx="7886700" cy="3263400"/>
          </a:xfrm>
          <a:prstGeom prst="rect">
            <a:avLst/>
          </a:prstGeom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/>
              <a:t>14405 samples, 7 features (4 text, 1 numerical, 1 categorical, 1 timestamp)</a:t>
            </a:r>
            <a:endParaRPr sz="15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/>
              <a:t>Text features:</a:t>
            </a:r>
            <a:endParaRPr sz="1500"/>
          </a:p>
          <a:p>
            <a:pPr marL="457200" lvl="0" indent="-3238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Char char="•"/>
            </a:pPr>
            <a:r>
              <a:rPr lang="en" sz="1500" b="1"/>
              <a:t>title</a:t>
            </a:r>
            <a:r>
              <a:rPr lang="en" sz="1500"/>
              <a:t>: title of the review</a:t>
            </a:r>
            <a:endParaRPr sz="1500"/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 b="1"/>
              <a:t>text</a:t>
            </a:r>
            <a:r>
              <a:rPr lang="en" sz="1500"/>
              <a:t>: the review text</a:t>
            </a:r>
            <a:endParaRPr sz="1500"/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 b="1"/>
              <a:t>product_title</a:t>
            </a:r>
            <a:r>
              <a:rPr lang="en" sz="1500"/>
              <a:t>: the name of the product, 5397 unique values</a:t>
            </a:r>
            <a:endParaRPr sz="1500"/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 b="1"/>
              <a:t>parent_asin</a:t>
            </a:r>
            <a:r>
              <a:rPr lang="en" sz="1500"/>
              <a:t>: the primary identifier for the product, 5397 unique values</a:t>
            </a:r>
            <a:endParaRPr sz="15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/>
              <a:t>Numerical feature:</a:t>
            </a:r>
            <a:endParaRPr sz="1500"/>
          </a:p>
          <a:p>
            <a:pPr marL="457200" lvl="0" indent="-3238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Char char="•"/>
            </a:pPr>
            <a:r>
              <a:rPr lang="en" sz="1500" b="1"/>
              <a:t>rating</a:t>
            </a:r>
            <a:r>
              <a:rPr lang="en" sz="1500"/>
              <a:t> (1-5): the corresponding rating of the product from the review</a:t>
            </a:r>
            <a:endParaRPr sz="1500"/>
          </a:p>
          <a:p>
            <a:pPr marL="9144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standard deviation: 1.56</a:t>
            </a:r>
            <a:endParaRPr sz="1500"/>
          </a:p>
          <a:p>
            <a:pPr marL="9144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mean: 3.87</a:t>
            </a:r>
            <a:endParaRPr sz="1500"/>
          </a:p>
          <a:p>
            <a:pPr marL="9144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median: 5</a:t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>
            <a:spLocks noGrp="1"/>
          </p:cNvSpPr>
          <p:nvPr>
            <p:ph type="title"/>
          </p:nvPr>
        </p:nvSpPr>
        <p:spPr>
          <a:xfrm>
            <a:off x="628650" y="4858"/>
            <a:ext cx="7886700" cy="994200"/>
          </a:xfrm>
          <a:prstGeom prst="rect">
            <a:avLst/>
          </a:prstGeom>
        </p:spPr>
        <p:txBody>
          <a:bodyPr spcFirstLastPara="1" wrap="square" lIns="0" tIns="45700" rIns="0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Data</a:t>
            </a:r>
            <a:endParaRPr sz="2400"/>
          </a:p>
        </p:txBody>
      </p:sp>
      <p:sp>
        <p:nvSpPr>
          <p:cNvPr id="104" name="Google Shape;104;p19"/>
          <p:cNvSpPr txBox="1">
            <a:spLocks noGrp="1"/>
          </p:cNvSpPr>
          <p:nvPr>
            <p:ph type="body" idx="1"/>
          </p:nvPr>
        </p:nvSpPr>
        <p:spPr>
          <a:xfrm>
            <a:off x="628650" y="1268730"/>
            <a:ext cx="7886700" cy="3263400"/>
          </a:xfrm>
          <a:prstGeom prst="rect">
            <a:avLst/>
          </a:prstGeom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/>
              <a:t>14405 samples, 7 features (4 text, 1 numerical, 1 categorical, 1 timestamp)</a:t>
            </a:r>
            <a:endParaRPr sz="15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/>
              <a:t>Categorical feature:</a:t>
            </a:r>
            <a:endParaRPr sz="1500"/>
          </a:p>
          <a:p>
            <a:pPr marL="457200" lvl="0" indent="-3238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Char char="•"/>
            </a:pPr>
            <a:r>
              <a:rPr lang="en" sz="1500" b="1"/>
              <a:t>verified_purchase</a:t>
            </a:r>
            <a:r>
              <a:rPr lang="en" sz="1500"/>
              <a:t>: 2 categories</a:t>
            </a:r>
            <a:endParaRPr sz="1500"/>
          </a:p>
          <a:p>
            <a:pPr marL="91440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True: the purchase of the review is verified</a:t>
            </a:r>
            <a:endParaRPr sz="1500"/>
          </a:p>
          <a:p>
            <a:pPr marL="91440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False: the purchase of the review is not verified</a:t>
            </a:r>
            <a:endParaRPr sz="15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/>
              <a:t>Timestamp feature:</a:t>
            </a:r>
            <a:endParaRPr sz="1500"/>
          </a:p>
          <a:p>
            <a:pPr marL="457200" lvl="0" indent="-3238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Char char="•"/>
            </a:pPr>
            <a:r>
              <a:rPr lang="en" sz="1500" b="1"/>
              <a:t>timestamp</a:t>
            </a:r>
            <a:r>
              <a:rPr lang="en" sz="1500"/>
              <a:t>: the date and time at which the review was posted, from Jan 1, 2023 to September 9, 2023.</a:t>
            </a:r>
            <a:endParaRPr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>
            <a:spLocks noGrp="1"/>
          </p:cNvSpPr>
          <p:nvPr>
            <p:ph type="title"/>
          </p:nvPr>
        </p:nvSpPr>
        <p:spPr>
          <a:xfrm>
            <a:off x="628650" y="4858"/>
            <a:ext cx="7886700" cy="994200"/>
          </a:xfrm>
          <a:prstGeom prst="rect">
            <a:avLst/>
          </a:prstGeom>
        </p:spPr>
        <p:txBody>
          <a:bodyPr spcFirstLastPara="1" wrap="square" lIns="0" tIns="45700" rIns="0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Exploratory Data Analysis</a:t>
            </a:r>
            <a:endParaRPr sz="2400"/>
          </a:p>
        </p:txBody>
      </p:sp>
      <p:sp>
        <p:nvSpPr>
          <p:cNvPr id="110" name="Google Shape;110;p20"/>
          <p:cNvSpPr txBox="1">
            <a:spLocks noGrp="1"/>
          </p:cNvSpPr>
          <p:nvPr>
            <p:ph type="body" idx="1"/>
          </p:nvPr>
        </p:nvSpPr>
        <p:spPr>
          <a:xfrm>
            <a:off x="628650" y="1268730"/>
            <a:ext cx="7886700" cy="3263400"/>
          </a:xfrm>
          <a:prstGeom prst="rect">
            <a:avLst/>
          </a:prstGeom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 b="1"/>
              <a:t>Data Cleaning and Processing:</a:t>
            </a:r>
            <a:endParaRPr sz="1500" b="1"/>
          </a:p>
          <a:p>
            <a:pPr marL="457200" lvl="0" indent="-3238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remove missing values, duplicates, and unverified purchases</a:t>
            </a:r>
            <a:endParaRPr sz="1500"/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 b="1"/>
              <a:t>Target variable</a:t>
            </a:r>
            <a:r>
              <a:rPr lang="en" sz="1500"/>
              <a:t>: Transform “rating” into categorical feature </a:t>
            </a:r>
            <a:r>
              <a:rPr lang="en" sz="1500" b="1"/>
              <a:t>“cat_rating”</a:t>
            </a:r>
            <a:endParaRPr sz="1500" b="1"/>
          </a:p>
          <a:p>
            <a:pPr marL="91440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1-3 low (0): point out product flaws</a:t>
            </a:r>
            <a:endParaRPr sz="1500"/>
          </a:p>
          <a:p>
            <a:pPr marL="91440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4-5 high (1): convey positive endorsement</a:t>
            </a:r>
            <a:endParaRPr sz="15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500"/>
          </a:p>
        </p:txBody>
      </p:sp>
      <p:pic>
        <p:nvPicPr>
          <p:cNvPr id="111" name="Google Shape;11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7180" y="2828225"/>
            <a:ext cx="2945969" cy="227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7182" y="2828229"/>
            <a:ext cx="2840967" cy="227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>
            <a:spLocks noGrp="1"/>
          </p:cNvSpPr>
          <p:nvPr>
            <p:ph type="title"/>
          </p:nvPr>
        </p:nvSpPr>
        <p:spPr>
          <a:xfrm>
            <a:off x="628650" y="4858"/>
            <a:ext cx="7886700" cy="994200"/>
          </a:xfrm>
          <a:prstGeom prst="rect">
            <a:avLst/>
          </a:prstGeom>
        </p:spPr>
        <p:txBody>
          <a:bodyPr spcFirstLastPara="1" wrap="square" lIns="0" tIns="45700" rIns="0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Exploratory Data Analysis</a:t>
            </a:r>
            <a:endParaRPr sz="2400"/>
          </a:p>
        </p:txBody>
      </p:sp>
      <p:sp>
        <p:nvSpPr>
          <p:cNvPr id="118" name="Google Shape;118;p21"/>
          <p:cNvSpPr txBox="1">
            <a:spLocks noGrp="1"/>
          </p:cNvSpPr>
          <p:nvPr>
            <p:ph type="body" idx="1"/>
          </p:nvPr>
        </p:nvSpPr>
        <p:spPr>
          <a:xfrm>
            <a:off x="628650" y="1268730"/>
            <a:ext cx="7886700" cy="3263400"/>
          </a:xfrm>
          <a:prstGeom prst="rect">
            <a:avLst/>
          </a:prstGeom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 b="1"/>
              <a:t>Data Cleaning and Processing:</a:t>
            </a:r>
            <a:endParaRPr sz="1500" b="1"/>
          </a:p>
          <a:p>
            <a:pPr marL="457200" lvl="0" indent="-3238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undersampling: balance the dataset to avoid prediction bias</a:t>
            </a:r>
            <a:endParaRPr sz="1500"/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cleaned dataset: 8048 samples (4024 high, 4024 low)</a:t>
            </a:r>
            <a:endParaRPr sz="15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500"/>
          </a:p>
        </p:txBody>
      </p:sp>
      <p:pic>
        <p:nvPicPr>
          <p:cNvPr id="119" name="Google Shape;1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8707" y="2571754"/>
            <a:ext cx="2840967" cy="227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4326" y="2571772"/>
            <a:ext cx="2840976" cy="22738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1" name="Google Shape;121;p21"/>
          <p:cNvCxnSpPr>
            <a:stCxn id="119" idx="3"/>
            <a:endCxn id="120" idx="1"/>
          </p:cNvCxnSpPr>
          <p:nvPr/>
        </p:nvCxnSpPr>
        <p:spPr>
          <a:xfrm>
            <a:off x="4199674" y="3708679"/>
            <a:ext cx="744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628650" y="4858"/>
            <a:ext cx="7886700" cy="994200"/>
          </a:xfrm>
          <a:prstGeom prst="rect">
            <a:avLst/>
          </a:prstGeom>
        </p:spPr>
        <p:txBody>
          <a:bodyPr spcFirstLastPara="1" wrap="square" lIns="0" tIns="45700" rIns="0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Exploratory Data Analysis</a:t>
            </a:r>
            <a:endParaRPr sz="2400"/>
          </a:p>
        </p:txBody>
      </p:sp>
      <p:sp>
        <p:nvSpPr>
          <p:cNvPr id="127" name="Google Shape;127;p22"/>
          <p:cNvSpPr txBox="1">
            <a:spLocks noGrp="1"/>
          </p:cNvSpPr>
          <p:nvPr>
            <p:ph type="body" idx="1"/>
          </p:nvPr>
        </p:nvSpPr>
        <p:spPr>
          <a:xfrm>
            <a:off x="628650" y="1268730"/>
            <a:ext cx="7886700" cy="3263400"/>
          </a:xfrm>
          <a:prstGeom prst="rect">
            <a:avLst/>
          </a:prstGeom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 b="1"/>
              <a:t>Data Cleaning and Processing:</a:t>
            </a:r>
            <a:endParaRPr sz="1500" b="1"/>
          </a:p>
          <a:p>
            <a:pPr marL="457200" lvl="0" indent="-3238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Char char="•"/>
            </a:pPr>
            <a:r>
              <a:rPr lang="en" sz="1500" b="1"/>
              <a:t>Feature variable</a:t>
            </a:r>
            <a:r>
              <a:rPr lang="en" sz="1500"/>
              <a:t>: merge “title” and “text” as </a:t>
            </a:r>
            <a:r>
              <a:rPr lang="en" sz="1500" b="1"/>
              <a:t>“review”</a:t>
            </a:r>
            <a:endParaRPr sz="1500" b="1"/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Distribution of review length (4 - 3289 words)</a:t>
            </a:r>
            <a:endParaRPr sz="1500"/>
          </a:p>
          <a:p>
            <a:pPr marL="91440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mean: 172.8, standard deviation: 173.1</a:t>
            </a:r>
            <a:endParaRPr sz="1500"/>
          </a:p>
          <a:p>
            <a:pPr marL="91440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no clear difference between two classes</a:t>
            </a:r>
            <a:endParaRPr sz="1500"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2313" y="2747749"/>
            <a:ext cx="5159376" cy="193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>
            <a:spLocks noGrp="1"/>
          </p:cNvSpPr>
          <p:nvPr>
            <p:ph type="title"/>
          </p:nvPr>
        </p:nvSpPr>
        <p:spPr>
          <a:xfrm>
            <a:off x="628650" y="4858"/>
            <a:ext cx="7886700" cy="994200"/>
          </a:xfrm>
          <a:prstGeom prst="rect">
            <a:avLst/>
          </a:prstGeom>
        </p:spPr>
        <p:txBody>
          <a:bodyPr spcFirstLastPara="1" wrap="square" lIns="0" tIns="45700" rIns="0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Exploratory Data Analysis</a:t>
            </a:r>
            <a:endParaRPr sz="2400"/>
          </a:p>
        </p:txBody>
      </p:sp>
      <p:sp>
        <p:nvSpPr>
          <p:cNvPr id="134" name="Google Shape;134;p23"/>
          <p:cNvSpPr txBox="1">
            <a:spLocks noGrp="1"/>
          </p:cNvSpPr>
          <p:nvPr>
            <p:ph type="body" idx="1"/>
          </p:nvPr>
        </p:nvSpPr>
        <p:spPr>
          <a:xfrm>
            <a:off x="628650" y="1268730"/>
            <a:ext cx="7886700" cy="3263400"/>
          </a:xfrm>
          <a:prstGeom prst="rect">
            <a:avLst/>
          </a:prstGeom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 b="1"/>
              <a:t>Data Cleaning and Processing:</a:t>
            </a:r>
            <a:endParaRPr sz="1500" b="1"/>
          </a:p>
          <a:p>
            <a:pPr marL="457200" lvl="0" indent="-3238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Text data cleaning and representation</a:t>
            </a:r>
            <a:endParaRPr sz="1500"/>
          </a:p>
          <a:p>
            <a:pPr marL="91440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expand contractions into normal words, lowercase, and remove html tags, non-alphabetic characters, url, punctuations, and repetitive letters</a:t>
            </a:r>
            <a:endParaRPr sz="1500"/>
          </a:p>
          <a:p>
            <a:pPr marL="91440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tf-idf vectorizer: 4101 features</a:t>
            </a:r>
            <a:endParaRPr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>
            <a:spLocks noGrp="1"/>
          </p:cNvSpPr>
          <p:nvPr>
            <p:ph type="title"/>
          </p:nvPr>
        </p:nvSpPr>
        <p:spPr>
          <a:xfrm>
            <a:off x="628650" y="4858"/>
            <a:ext cx="7886700" cy="994200"/>
          </a:xfrm>
          <a:prstGeom prst="rect">
            <a:avLst/>
          </a:prstGeom>
        </p:spPr>
        <p:txBody>
          <a:bodyPr spcFirstLastPara="1" wrap="square" lIns="0" tIns="45700" rIns="0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Supervised Machine Learning</a:t>
            </a:r>
            <a:endParaRPr sz="2400"/>
          </a:p>
        </p:txBody>
      </p:sp>
      <p:sp>
        <p:nvSpPr>
          <p:cNvPr id="140" name="Google Shape;140;p24"/>
          <p:cNvSpPr txBox="1">
            <a:spLocks noGrp="1"/>
          </p:cNvSpPr>
          <p:nvPr>
            <p:ph type="body" idx="1"/>
          </p:nvPr>
        </p:nvSpPr>
        <p:spPr>
          <a:xfrm>
            <a:off x="628650" y="1268730"/>
            <a:ext cx="7886700" cy="3263400"/>
          </a:xfrm>
          <a:prstGeom prst="rect">
            <a:avLst/>
          </a:prstGeom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 b="1"/>
              <a:t>Model exploration and hyperparameter tuning:</a:t>
            </a:r>
            <a:endParaRPr sz="1500" b="1"/>
          </a:p>
          <a:p>
            <a:pPr marL="457200" lvl="0" indent="-3238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Logistic Regression, Decision Tree, Random Forest</a:t>
            </a:r>
            <a:endParaRPr sz="1500"/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split training and testing data: 70% training, 30% testing</a:t>
            </a:r>
            <a:endParaRPr sz="1500"/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GridSearchCV: hyperparameter tuning for each model</a:t>
            </a:r>
            <a:endParaRPr sz="1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>
            <a:spLocks noGrp="1"/>
          </p:cNvSpPr>
          <p:nvPr>
            <p:ph type="title"/>
          </p:nvPr>
        </p:nvSpPr>
        <p:spPr>
          <a:xfrm>
            <a:off x="628650" y="4858"/>
            <a:ext cx="7886700" cy="994200"/>
          </a:xfrm>
          <a:prstGeom prst="rect">
            <a:avLst/>
          </a:prstGeom>
        </p:spPr>
        <p:txBody>
          <a:bodyPr spcFirstLastPara="1" wrap="square" lIns="0" tIns="45700" rIns="0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Supervised Machine Learning</a:t>
            </a:r>
            <a:endParaRPr sz="2400"/>
          </a:p>
        </p:txBody>
      </p:sp>
      <p:sp>
        <p:nvSpPr>
          <p:cNvPr id="146" name="Google Shape;146;p25"/>
          <p:cNvSpPr txBox="1">
            <a:spLocks noGrp="1"/>
          </p:cNvSpPr>
          <p:nvPr>
            <p:ph type="body" idx="1"/>
          </p:nvPr>
        </p:nvSpPr>
        <p:spPr>
          <a:xfrm>
            <a:off x="628650" y="1268728"/>
            <a:ext cx="3257700" cy="1452000"/>
          </a:xfrm>
          <a:prstGeom prst="rect">
            <a:avLst/>
          </a:prstGeom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 b="1"/>
              <a:t>Logistic Regression Model:</a:t>
            </a:r>
            <a:endParaRPr sz="1500" b="1"/>
          </a:p>
          <a:p>
            <a:pPr marL="457200" lvl="0" indent="-3238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L2 penalty, C = 1, lbfgs solver</a:t>
            </a:r>
            <a:endParaRPr sz="1500"/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f1-score: 0.87</a:t>
            </a:r>
            <a:endParaRPr sz="1500"/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AUC = 0.93</a:t>
            </a:r>
            <a:endParaRPr sz="1500"/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recall (0): 0.89, recall (1): 0.85</a:t>
            </a:r>
            <a:endParaRPr sz="1500"/>
          </a:p>
        </p:txBody>
      </p:sp>
      <p:pic>
        <p:nvPicPr>
          <p:cNvPr id="147" name="Google Shape;147;p25"/>
          <p:cNvPicPr preferRelativeResize="0"/>
          <p:nvPr/>
        </p:nvPicPr>
        <p:blipFill rotWithShape="1">
          <a:blip r:embed="rId3">
            <a:alphaModFix/>
          </a:blip>
          <a:srcRect l="3948"/>
          <a:stretch/>
        </p:blipFill>
        <p:spPr>
          <a:xfrm>
            <a:off x="498350" y="3164550"/>
            <a:ext cx="3580925" cy="131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61926" y="2441425"/>
            <a:ext cx="2584325" cy="2034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21824" y="2064075"/>
            <a:ext cx="1237973" cy="241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1925" y="2694608"/>
            <a:ext cx="2584325" cy="2025424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6"/>
          <p:cNvSpPr txBox="1">
            <a:spLocks noGrp="1"/>
          </p:cNvSpPr>
          <p:nvPr>
            <p:ph type="title"/>
          </p:nvPr>
        </p:nvSpPr>
        <p:spPr>
          <a:xfrm>
            <a:off x="628650" y="4858"/>
            <a:ext cx="7886700" cy="994200"/>
          </a:xfrm>
          <a:prstGeom prst="rect">
            <a:avLst/>
          </a:prstGeom>
        </p:spPr>
        <p:txBody>
          <a:bodyPr spcFirstLastPara="1" wrap="square" lIns="0" tIns="45700" rIns="0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Supervised Machine Learning</a:t>
            </a:r>
            <a:endParaRPr sz="2400"/>
          </a:p>
        </p:txBody>
      </p:sp>
      <p:sp>
        <p:nvSpPr>
          <p:cNvPr id="156" name="Google Shape;156;p26"/>
          <p:cNvSpPr txBox="1">
            <a:spLocks noGrp="1"/>
          </p:cNvSpPr>
          <p:nvPr>
            <p:ph type="body" idx="1"/>
          </p:nvPr>
        </p:nvSpPr>
        <p:spPr>
          <a:xfrm>
            <a:off x="628650" y="1268725"/>
            <a:ext cx="7831200" cy="1452000"/>
          </a:xfrm>
          <a:prstGeom prst="rect">
            <a:avLst/>
          </a:prstGeom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 b="1"/>
              <a:t>Decision Tree Model:</a:t>
            </a:r>
            <a:endParaRPr sz="1500" b="1"/>
          </a:p>
          <a:p>
            <a:pPr marL="457200" lvl="0" indent="-3238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criterion: gini, max_depth: None, </a:t>
            </a:r>
            <a:endParaRPr sz="150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min_samples_split: 2, min_samples_leaf: 1</a:t>
            </a:r>
            <a:endParaRPr sz="1500"/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f1-score: 0.78</a:t>
            </a:r>
            <a:endParaRPr sz="1500"/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recall (0): 0.80, recall (1): 0.75</a:t>
            </a:r>
            <a:endParaRPr sz="1500"/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AUC = 0.78</a:t>
            </a:r>
            <a:endParaRPr sz="1500"/>
          </a:p>
        </p:txBody>
      </p:sp>
      <p:pic>
        <p:nvPicPr>
          <p:cNvPr id="157" name="Google Shape;15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350" y="3446568"/>
            <a:ext cx="3580925" cy="1273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81904" y="2308306"/>
            <a:ext cx="1141725" cy="241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6" title="decision_tree_top2_viz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53700" y="196460"/>
            <a:ext cx="2869924" cy="183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350" y="3216900"/>
            <a:ext cx="3556774" cy="125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7"/>
          <p:cNvSpPr txBox="1">
            <a:spLocks noGrp="1"/>
          </p:cNvSpPr>
          <p:nvPr>
            <p:ph type="title"/>
          </p:nvPr>
        </p:nvSpPr>
        <p:spPr>
          <a:xfrm>
            <a:off x="628650" y="4858"/>
            <a:ext cx="7886700" cy="994200"/>
          </a:xfrm>
          <a:prstGeom prst="rect">
            <a:avLst/>
          </a:prstGeom>
        </p:spPr>
        <p:txBody>
          <a:bodyPr spcFirstLastPara="1" wrap="square" lIns="0" tIns="45700" rIns="0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Supervised Machine Learning</a:t>
            </a:r>
            <a:endParaRPr sz="2400"/>
          </a:p>
        </p:txBody>
      </p:sp>
      <p:sp>
        <p:nvSpPr>
          <p:cNvPr id="166" name="Google Shape;166;p27"/>
          <p:cNvSpPr txBox="1">
            <a:spLocks noGrp="1"/>
          </p:cNvSpPr>
          <p:nvPr>
            <p:ph type="body" idx="1"/>
          </p:nvPr>
        </p:nvSpPr>
        <p:spPr>
          <a:xfrm>
            <a:off x="628650" y="1268725"/>
            <a:ext cx="5789700" cy="1678500"/>
          </a:xfrm>
          <a:prstGeom prst="rect">
            <a:avLst/>
          </a:prstGeom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 b="1"/>
              <a:t>Random Forest Model:</a:t>
            </a:r>
            <a:endParaRPr sz="1500" b="1"/>
          </a:p>
          <a:p>
            <a:pPr marL="457200" lvl="0" indent="-3238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criterion: gini, n_estimators: 200, max_features: log2,</a:t>
            </a:r>
            <a:endParaRPr sz="150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max_depth: None,  min_samples_leaf: 1</a:t>
            </a:r>
            <a:endParaRPr sz="1500"/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f1-score: 0.86</a:t>
            </a:r>
            <a:endParaRPr sz="1500"/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recall (0): 0.89, recall (1): 0.83</a:t>
            </a:r>
            <a:endParaRPr sz="1500"/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AUC = 0.93</a:t>
            </a:r>
            <a:endParaRPr sz="1500"/>
          </a:p>
        </p:txBody>
      </p:sp>
      <p:pic>
        <p:nvPicPr>
          <p:cNvPr id="167" name="Google Shape;16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61925" y="2450380"/>
            <a:ext cx="2584325" cy="20254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31656" y="2027875"/>
            <a:ext cx="1176225" cy="244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>
            <a:spLocks noGrp="1"/>
          </p:cNvSpPr>
          <p:nvPr>
            <p:ph type="title"/>
          </p:nvPr>
        </p:nvSpPr>
        <p:spPr>
          <a:xfrm>
            <a:off x="628650" y="4858"/>
            <a:ext cx="7886700" cy="994200"/>
          </a:xfrm>
          <a:prstGeom prst="rect">
            <a:avLst/>
          </a:prstGeom>
        </p:spPr>
        <p:txBody>
          <a:bodyPr spcFirstLastPara="1" wrap="square" lIns="0" tIns="45700" rIns="0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Supervised Machine Learning</a:t>
            </a:r>
            <a:endParaRPr sz="2400"/>
          </a:p>
        </p:txBody>
      </p:sp>
      <p:graphicFrame>
        <p:nvGraphicFramePr>
          <p:cNvPr id="174" name="Google Shape;174;p28"/>
          <p:cNvGraphicFramePr/>
          <p:nvPr/>
        </p:nvGraphicFramePr>
        <p:xfrm>
          <a:off x="970600" y="1413575"/>
          <a:ext cx="7202800" cy="2026830"/>
        </p:xfrm>
        <a:graphic>
          <a:graphicData uri="http://schemas.openxmlformats.org/drawingml/2006/table">
            <a:tbl>
              <a:tblPr>
                <a:noFill/>
                <a:tableStyleId>{91CF6281-E6D7-4C04-850D-27825DA9023C}</a:tableStyleId>
              </a:tblPr>
              <a:tblGrid>
                <a:gridCol w="1132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1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1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1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3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</a:rPr>
                        <a:t>f1-score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</a:rPr>
                        <a:t>AUC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</a:rPr>
                        <a:t>recall (0)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</a:rPr>
                        <a:t>recall (1)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</a:rPr>
                        <a:t>Top 5 features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2"/>
                          </a:solidFill>
                        </a:rPr>
                        <a:t>Logistic Regression</a:t>
                      </a:r>
                      <a:endParaRPr sz="1200" b="1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2"/>
                          </a:solidFill>
                        </a:rPr>
                        <a:t>0.87</a:t>
                      </a:r>
                      <a:endParaRPr sz="1200" b="1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2"/>
                          </a:solidFill>
                        </a:rPr>
                        <a:t>0.93</a:t>
                      </a:r>
                      <a:endParaRPr sz="1200" b="1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2"/>
                          </a:solidFill>
                        </a:rPr>
                        <a:t>0.89</a:t>
                      </a:r>
                      <a:endParaRPr sz="1200" b="1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2"/>
                          </a:solidFill>
                        </a:rPr>
                        <a:t>0.85</a:t>
                      </a:r>
                      <a:endParaRPr sz="1200" b="1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2"/>
                          </a:solidFill>
                        </a:rPr>
                        <a:t>great</a:t>
                      </a:r>
                      <a:r>
                        <a:rPr lang="en" sz="1200">
                          <a:solidFill>
                            <a:schemeClr val="dk2"/>
                          </a:solidFill>
                        </a:rPr>
                        <a:t>, </a:t>
                      </a:r>
                      <a:r>
                        <a:rPr lang="en" sz="1200" b="1">
                          <a:solidFill>
                            <a:schemeClr val="dk2"/>
                          </a:solidFill>
                        </a:rPr>
                        <a:t>love</a:t>
                      </a:r>
                      <a:r>
                        <a:rPr lang="en" sz="1200">
                          <a:solidFill>
                            <a:schemeClr val="dk2"/>
                          </a:solidFill>
                        </a:rPr>
                        <a:t>, amazing, </a:t>
                      </a:r>
                      <a:r>
                        <a:rPr lang="en" sz="1200" b="1">
                          <a:solidFill>
                            <a:schemeClr val="dk2"/>
                          </a:solidFill>
                        </a:rPr>
                        <a:t>perfect</a:t>
                      </a:r>
                      <a:r>
                        <a:rPr lang="en" sz="1200">
                          <a:solidFill>
                            <a:schemeClr val="dk2"/>
                          </a:solidFill>
                        </a:rPr>
                        <a:t>, </a:t>
                      </a:r>
                      <a:r>
                        <a:rPr lang="en" sz="1200" b="1">
                          <a:solidFill>
                            <a:schemeClr val="dk2"/>
                          </a:solidFill>
                        </a:rPr>
                        <a:t>best</a:t>
                      </a:r>
                      <a:endParaRPr sz="1200" b="1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</a:rPr>
                        <a:t>Decision Tree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</a:rPr>
                        <a:t>0.78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</a:rPr>
                        <a:t>0.78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</a:rPr>
                        <a:t>0.80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</a:rPr>
                        <a:t>0.75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</a:rPr>
                        <a:t>not, </a:t>
                      </a:r>
                      <a:r>
                        <a:rPr lang="en" sz="1200" b="1">
                          <a:solidFill>
                            <a:schemeClr val="dk2"/>
                          </a:solidFill>
                        </a:rPr>
                        <a:t>great</a:t>
                      </a:r>
                      <a:r>
                        <a:rPr lang="en" sz="1200">
                          <a:solidFill>
                            <a:schemeClr val="dk2"/>
                          </a:solidFill>
                        </a:rPr>
                        <a:t>, </a:t>
                      </a:r>
                      <a:r>
                        <a:rPr lang="en" sz="1200" b="1">
                          <a:solidFill>
                            <a:schemeClr val="dk2"/>
                          </a:solidFill>
                        </a:rPr>
                        <a:t>love</a:t>
                      </a:r>
                      <a:r>
                        <a:rPr lang="en" sz="1200">
                          <a:solidFill>
                            <a:schemeClr val="dk2"/>
                          </a:solidFill>
                        </a:rPr>
                        <a:t>, </a:t>
                      </a:r>
                      <a:r>
                        <a:rPr lang="en" sz="1200" b="1">
                          <a:solidFill>
                            <a:schemeClr val="dk2"/>
                          </a:solidFill>
                        </a:rPr>
                        <a:t>good</a:t>
                      </a:r>
                      <a:r>
                        <a:rPr lang="en" sz="1200">
                          <a:solidFill>
                            <a:schemeClr val="dk2"/>
                          </a:solidFill>
                        </a:rPr>
                        <a:t>,</a:t>
                      </a:r>
                      <a:r>
                        <a:rPr lang="en" sz="1200" b="1">
                          <a:solidFill>
                            <a:schemeClr val="dk2"/>
                          </a:solidFill>
                        </a:rPr>
                        <a:t> perfect</a:t>
                      </a:r>
                      <a:endParaRPr sz="1200" b="1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</a:rPr>
                        <a:t>Random Forest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</a:rPr>
                        <a:t>0.86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2"/>
                          </a:solidFill>
                        </a:rPr>
                        <a:t>0.93</a:t>
                      </a:r>
                      <a:endParaRPr sz="1200" b="1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2"/>
                          </a:solidFill>
                        </a:rPr>
                        <a:t>0.89</a:t>
                      </a:r>
                      <a:endParaRPr sz="1200" b="1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</a:rPr>
                        <a:t>0.83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</a:rPr>
                        <a:t>not, </a:t>
                      </a:r>
                      <a:r>
                        <a:rPr lang="en" sz="1200" b="1">
                          <a:solidFill>
                            <a:schemeClr val="dk2"/>
                          </a:solidFill>
                        </a:rPr>
                        <a:t>great</a:t>
                      </a:r>
                      <a:r>
                        <a:rPr lang="en" sz="1200">
                          <a:solidFill>
                            <a:schemeClr val="dk2"/>
                          </a:solidFill>
                        </a:rPr>
                        <a:t>, </a:t>
                      </a:r>
                      <a:r>
                        <a:rPr lang="en" sz="1200" b="1">
                          <a:solidFill>
                            <a:schemeClr val="dk2"/>
                          </a:solidFill>
                        </a:rPr>
                        <a:t>love</a:t>
                      </a:r>
                      <a:r>
                        <a:rPr lang="en" sz="1200">
                          <a:solidFill>
                            <a:schemeClr val="dk2"/>
                          </a:solidFill>
                        </a:rPr>
                        <a:t>, </a:t>
                      </a:r>
                      <a:r>
                        <a:rPr lang="en" sz="1200" b="1">
                          <a:solidFill>
                            <a:schemeClr val="dk2"/>
                          </a:solidFill>
                        </a:rPr>
                        <a:t>good</a:t>
                      </a:r>
                      <a:r>
                        <a:rPr lang="en" sz="1200">
                          <a:solidFill>
                            <a:schemeClr val="dk2"/>
                          </a:solidFill>
                        </a:rPr>
                        <a:t>, </a:t>
                      </a:r>
                      <a:r>
                        <a:rPr lang="en" sz="1200" b="1">
                          <a:solidFill>
                            <a:schemeClr val="dk2"/>
                          </a:solidFill>
                        </a:rPr>
                        <a:t>perfect</a:t>
                      </a:r>
                      <a:endParaRPr sz="1200" b="1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 txBox="1">
            <a:spLocks noGrp="1"/>
          </p:cNvSpPr>
          <p:nvPr>
            <p:ph type="title"/>
          </p:nvPr>
        </p:nvSpPr>
        <p:spPr>
          <a:xfrm>
            <a:off x="628650" y="4858"/>
            <a:ext cx="7886700" cy="994200"/>
          </a:xfrm>
          <a:prstGeom prst="rect">
            <a:avLst/>
          </a:prstGeom>
        </p:spPr>
        <p:txBody>
          <a:bodyPr spcFirstLastPara="1" wrap="square" lIns="0" tIns="45700" rIns="0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Supervised Machine Learning</a:t>
            </a:r>
            <a:endParaRPr sz="2400"/>
          </a:p>
        </p:txBody>
      </p:sp>
      <p:sp>
        <p:nvSpPr>
          <p:cNvPr id="180" name="Google Shape;180;p29"/>
          <p:cNvSpPr txBox="1">
            <a:spLocks noGrp="1"/>
          </p:cNvSpPr>
          <p:nvPr>
            <p:ph type="body" idx="1"/>
          </p:nvPr>
        </p:nvSpPr>
        <p:spPr>
          <a:xfrm>
            <a:off x="628650" y="1268725"/>
            <a:ext cx="7886700" cy="2537700"/>
          </a:xfrm>
          <a:prstGeom prst="rect">
            <a:avLst/>
          </a:prstGeom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 b="1"/>
              <a:t>Comparison:</a:t>
            </a:r>
            <a:endParaRPr sz="1500" b="1"/>
          </a:p>
          <a:p>
            <a:pPr marL="457200" lvl="0" indent="-3238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Logistic regression is the best performing model. It adopted L2 regularization, which reduces overfitting and improves generalization. </a:t>
            </a:r>
            <a:endParaRPr sz="1500"/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The decision tree is prone to instability and overfitting, especially at greater depths. </a:t>
            </a:r>
            <a:endParaRPr sz="1500"/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The random forest mitigates this weakness by aggregating many trees, improving robustness and reducing variance. </a:t>
            </a:r>
            <a:endParaRPr sz="1500"/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Overall, the results suggest that ensemble methods and regularized linear models are both highly effective for sentiment classification, while a single tree is comparatively less reliable.</a:t>
            </a:r>
            <a:endParaRPr sz="15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/>
          <p:nvPr/>
        </p:nvSpPr>
        <p:spPr>
          <a:xfrm>
            <a:off x="956400" y="2169000"/>
            <a:ext cx="7097100" cy="11238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" name="Google Shape;186;p30"/>
          <p:cNvSpPr txBox="1">
            <a:spLocks noGrp="1"/>
          </p:cNvSpPr>
          <p:nvPr>
            <p:ph type="title"/>
          </p:nvPr>
        </p:nvSpPr>
        <p:spPr>
          <a:xfrm>
            <a:off x="628650" y="4858"/>
            <a:ext cx="7886700" cy="994200"/>
          </a:xfrm>
          <a:prstGeom prst="rect">
            <a:avLst/>
          </a:prstGeom>
        </p:spPr>
        <p:txBody>
          <a:bodyPr spcFirstLastPara="1" wrap="square" lIns="0" tIns="45700" rIns="0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Supervised Machine Learning</a:t>
            </a:r>
            <a:endParaRPr sz="2400"/>
          </a:p>
        </p:txBody>
      </p:sp>
      <p:sp>
        <p:nvSpPr>
          <p:cNvPr id="187" name="Google Shape;187;p30"/>
          <p:cNvSpPr txBox="1">
            <a:spLocks noGrp="1"/>
          </p:cNvSpPr>
          <p:nvPr>
            <p:ph type="body" idx="1"/>
          </p:nvPr>
        </p:nvSpPr>
        <p:spPr>
          <a:xfrm>
            <a:off x="628650" y="1268725"/>
            <a:ext cx="7752600" cy="3222600"/>
          </a:xfrm>
          <a:prstGeom prst="rect">
            <a:avLst/>
          </a:prstGeom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 b="1"/>
              <a:t>Error analysis:</a:t>
            </a:r>
            <a:endParaRPr sz="1500" b="1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/>
              <a:t>	A common false positive error:</a:t>
            </a:r>
            <a:endParaRPr sz="15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500"/>
          </a:p>
          <a:p>
            <a:pPr marL="45720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/>
              <a:t>Silky </a:t>
            </a:r>
            <a:r>
              <a:rPr lang="en" sz="1500" b="1">
                <a:solidFill>
                  <a:srgbClr val="1155CC"/>
                </a:solidFill>
              </a:rPr>
              <a:t>smooth</a:t>
            </a:r>
            <a:r>
              <a:rPr lang="en" sz="1500"/>
              <a:t>(1.143) but </a:t>
            </a:r>
            <a:r>
              <a:rPr lang="en" sz="1500" b="1">
                <a:solidFill>
                  <a:srgbClr val="CC0000"/>
                </a:solidFill>
              </a:rPr>
              <a:t>slips</a:t>
            </a:r>
            <a:r>
              <a:rPr lang="en" sz="1500"/>
              <a:t>(-0.140) off The </a:t>
            </a:r>
            <a:r>
              <a:rPr lang="en" sz="1500" b="1">
                <a:solidFill>
                  <a:srgbClr val="CC0000"/>
                </a:solidFill>
              </a:rPr>
              <a:t>material</a:t>
            </a:r>
            <a:r>
              <a:rPr lang="en" sz="1500"/>
              <a:t>(-0.328) is</a:t>
            </a:r>
            <a:r>
              <a:rPr lang="en" sz="1500" b="1">
                <a:solidFill>
                  <a:srgbClr val="1155CC"/>
                </a:solidFill>
              </a:rPr>
              <a:t> great</a:t>
            </a:r>
            <a:r>
              <a:rPr lang="en" sz="1500"/>
              <a:t>(6.227) It is more </a:t>
            </a:r>
            <a:r>
              <a:rPr lang="en" sz="1500" b="1">
                <a:solidFill>
                  <a:srgbClr val="1155CC"/>
                </a:solidFill>
              </a:rPr>
              <a:t>like</a:t>
            </a:r>
            <a:r>
              <a:rPr lang="en" sz="1500"/>
              <a:t>(0.073) a doo </a:t>
            </a:r>
            <a:r>
              <a:rPr lang="en" sz="1500" b="1">
                <a:solidFill>
                  <a:srgbClr val="1155CC"/>
                </a:solidFill>
              </a:rPr>
              <a:t>rag</a:t>
            </a:r>
            <a:r>
              <a:rPr lang="en" sz="1500"/>
              <a:t>(0.173) or </a:t>
            </a:r>
            <a:r>
              <a:rPr lang="en" sz="1500" b="1">
                <a:solidFill>
                  <a:srgbClr val="1155CC"/>
                </a:solidFill>
              </a:rPr>
              <a:t>wave</a:t>
            </a:r>
            <a:r>
              <a:rPr lang="en" sz="1500"/>
              <a:t>(0.101) </a:t>
            </a:r>
            <a:r>
              <a:rPr lang="en" sz="1500" b="1">
                <a:solidFill>
                  <a:srgbClr val="CC0000"/>
                </a:solidFill>
              </a:rPr>
              <a:t>cap</a:t>
            </a:r>
            <a:r>
              <a:rPr lang="en" sz="1500"/>
              <a:t>(-0.429) It just</a:t>
            </a:r>
            <a:r>
              <a:rPr lang="en" sz="1500" b="1">
                <a:solidFill>
                  <a:srgbClr val="1155CC"/>
                </a:solidFill>
              </a:rPr>
              <a:t> keeps</a:t>
            </a:r>
            <a:r>
              <a:rPr lang="en" sz="1500"/>
              <a:t>(1.468) </a:t>
            </a:r>
            <a:r>
              <a:rPr lang="en" sz="1500" b="1">
                <a:solidFill>
                  <a:srgbClr val="CC0000"/>
                </a:solidFill>
              </a:rPr>
              <a:t>slipping</a:t>
            </a:r>
            <a:r>
              <a:rPr lang="en" sz="1500"/>
              <a:t>(-0.148) off while </a:t>
            </a:r>
            <a:r>
              <a:rPr lang="en" sz="1500" b="1">
                <a:solidFill>
                  <a:srgbClr val="1155CC"/>
                </a:solidFill>
              </a:rPr>
              <a:t>im</a:t>
            </a:r>
            <a:r>
              <a:rPr lang="en" sz="1500"/>
              <a:t>(0.265) </a:t>
            </a:r>
            <a:r>
              <a:rPr lang="en" sz="1500" b="1">
                <a:solidFill>
                  <a:srgbClr val="CC0000"/>
                </a:solidFill>
              </a:rPr>
              <a:t>sleep</a:t>
            </a:r>
            <a:r>
              <a:rPr lang="en" sz="1500"/>
              <a:t>(-0.124)</a:t>
            </a:r>
            <a:endParaRPr sz="1500"/>
          </a:p>
          <a:p>
            <a:pPr marL="45720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500"/>
          </a:p>
          <a:p>
            <a:pPr marL="457200" lvl="0" indent="-3238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The positive feature “great” has very high importance in the classifiers.</a:t>
            </a:r>
            <a:endParaRPr sz="1500"/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The review expressed both positive and negative comments.</a:t>
            </a:r>
            <a:endParaRPr sz="1500"/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The classifiers rely on individual words, unable to learn the context.</a:t>
            </a:r>
            <a:endParaRPr sz="15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1"/>
          <p:cNvSpPr txBox="1">
            <a:spLocks noGrp="1"/>
          </p:cNvSpPr>
          <p:nvPr>
            <p:ph type="title"/>
          </p:nvPr>
        </p:nvSpPr>
        <p:spPr>
          <a:xfrm>
            <a:off x="628650" y="4858"/>
            <a:ext cx="7886700" cy="994200"/>
          </a:xfrm>
          <a:prstGeom prst="rect">
            <a:avLst/>
          </a:prstGeom>
        </p:spPr>
        <p:txBody>
          <a:bodyPr spcFirstLastPara="1" wrap="square" lIns="0" tIns="45700" rIns="0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Unsupervised Machine Learning</a:t>
            </a:r>
            <a:endParaRPr sz="2400"/>
          </a:p>
        </p:txBody>
      </p:sp>
      <p:sp>
        <p:nvSpPr>
          <p:cNvPr id="193" name="Google Shape;193;p31"/>
          <p:cNvSpPr txBox="1">
            <a:spLocks noGrp="1"/>
          </p:cNvSpPr>
          <p:nvPr>
            <p:ph type="body" idx="1"/>
          </p:nvPr>
        </p:nvSpPr>
        <p:spPr>
          <a:xfrm>
            <a:off x="628650" y="1268730"/>
            <a:ext cx="7886700" cy="3263400"/>
          </a:xfrm>
          <a:prstGeom prst="rect">
            <a:avLst/>
          </a:prstGeom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 b="1"/>
              <a:t>Why BERTopic:</a:t>
            </a:r>
            <a:endParaRPr sz="1500" b="1"/>
          </a:p>
          <a:p>
            <a:pPr marL="457200" lvl="0" indent="-3238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The dataset consists of short, and informal product reviews. </a:t>
            </a:r>
            <a:endParaRPr sz="1500"/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Traditional models such as LDA do not work well on short documents.</a:t>
            </a:r>
            <a:endParaRPr sz="1500"/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BERTopic leverages contextual sentence embeddings and clustering to capture semantic similarity between reviews.</a:t>
            </a:r>
            <a:endParaRPr sz="15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2"/>
          <p:cNvSpPr txBox="1">
            <a:spLocks noGrp="1"/>
          </p:cNvSpPr>
          <p:nvPr>
            <p:ph type="title"/>
          </p:nvPr>
        </p:nvSpPr>
        <p:spPr>
          <a:xfrm>
            <a:off x="628650" y="4858"/>
            <a:ext cx="7886700" cy="994200"/>
          </a:xfrm>
          <a:prstGeom prst="rect">
            <a:avLst/>
          </a:prstGeom>
        </p:spPr>
        <p:txBody>
          <a:bodyPr spcFirstLastPara="1" wrap="square" lIns="0" tIns="45700" rIns="0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Unsupervised Machine Learning</a:t>
            </a:r>
            <a:endParaRPr sz="2400"/>
          </a:p>
        </p:txBody>
      </p:sp>
      <p:sp>
        <p:nvSpPr>
          <p:cNvPr id="199" name="Google Shape;199;p32"/>
          <p:cNvSpPr txBox="1">
            <a:spLocks noGrp="1"/>
          </p:cNvSpPr>
          <p:nvPr>
            <p:ph type="body" idx="1"/>
          </p:nvPr>
        </p:nvSpPr>
        <p:spPr>
          <a:xfrm>
            <a:off x="628650" y="1268730"/>
            <a:ext cx="7886700" cy="3263400"/>
          </a:xfrm>
          <a:prstGeom prst="rect">
            <a:avLst/>
          </a:prstGeom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/>
              <a:t>Modeling:</a:t>
            </a:r>
            <a:endParaRPr sz="1500"/>
          </a:p>
          <a:p>
            <a:pPr marL="457200" lvl="0" indent="-3238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hyperparameter tuning: </a:t>
            </a:r>
            <a:endParaRPr sz="1500"/>
          </a:p>
          <a:p>
            <a:pPr marL="91440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CountVectorizer</a:t>
            </a:r>
            <a:endParaRPr sz="1500"/>
          </a:p>
          <a:p>
            <a:pPr marL="91440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UMAP: n_neighbors=15</a:t>
            </a:r>
            <a:endParaRPr sz="1500"/>
          </a:p>
          <a:p>
            <a:pPr marL="91440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HDBSCAN: min_cluster_size=30</a:t>
            </a:r>
            <a:endParaRPr sz="1500"/>
          </a:p>
          <a:p>
            <a:pPr marL="91440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nr_topics=15</a:t>
            </a:r>
            <a:endParaRPr sz="15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result: 14 topics</a:t>
            </a:r>
            <a:endParaRPr sz="1500"/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evaluation: topic coherence: 0.47</a:t>
            </a:r>
            <a:endParaRPr sz="1500"/>
          </a:p>
        </p:txBody>
      </p:sp>
      <p:pic>
        <p:nvPicPr>
          <p:cNvPr id="200" name="Google Shape;20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2262" y="547775"/>
            <a:ext cx="2379176" cy="2798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32"/>
          <p:cNvPicPr preferRelativeResize="0"/>
          <p:nvPr/>
        </p:nvPicPr>
        <p:blipFill rotWithShape="1">
          <a:blip r:embed="rId4">
            <a:alphaModFix/>
          </a:blip>
          <a:srcRect l="-6112" t="-6109" b="49067"/>
          <a:stretch/>
        </p:blipFill>
        <p:spPr>
          <a:xfrm>
            <a:off x="3556700" y="3367780"/>
            <a:ext cx="5054750" cy="124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6" name="Google Shape;206;p33"/>
          <p:cNvGraphicFramePr/>
          <p:nvPr/>
        </p:nvGraphicFramePr>
        <p:xfrm>
          <a:off x="628638" y="1361678"/>
          <a:ext cx="7579800" cy="3119525"/>
        </p:xfrm>
        <a:graphic>
          <a:graphicData uri="http://schemas.openxmlformats.org/drawingml/2006/table">
            <a:tbl>
              <a:tblPr>
                <a:noFill/>
                <a:tableStyleId>{B707DE10-15DF-4BC5-B357-16A096A19214}</a:tableStyleId>
              </a:tblPr>
              <a:tblGrid>
                <a:gridCol w="79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9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75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2"/>
                          </a:solidFill>
                        </a:rPr>
                        <a:t>Topic ID</a:t>
                      </a:r>
                      <a:endParaRPr sz="1000" b="1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2"/>
                          </a:solidFill>
                        </a:rPr>
                        <a:t>Topic Name</a:t>
                      </a:r>
                      <a:endParaRPr sz="1000" b="1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2"/>
                          </a:solidFill>
                        </a:rPr>
                        <a:t>Top Keywords</a:t>
                      </a:r>
                      <a:endParaRPr sz="1000" b="1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2"/>
                          </a:solidFill>
                        </a:rPr>
                        <a:t>Number of Reviews</a:t>
                      </a:r>
                      <a:endParaRPr sz="1000" b="1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product_skin_eye_face</a:t>
                      </a:r>
                      <a:endParaRPr sz="1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skin, lashes, face, eyes, cream</a:t>
                      </a:r>
                      <a:endParaRPr sz="1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1164</a:t>
                      </a:r>
                      <a:endParaRPr sz="1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000" b="1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dimension_size_quality_value</a:t>
                      </a:r>
                      <a:endParaRPr sz="1000" b="1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cute, quality, money, price, small</a:t>
                      </a:r>
                      <a:endParaRPr sz="1000" b="1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1120</a:t>
                      </a:r>
                      <a:endParaRPr sz="1000" b="1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sz="1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product_hair_care_wigs</a:t>
                      </a:r>
                      <a:endParaRPr sz="1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hair, wig, shampoo, conditioner, curl</a:t>
                      </a:r>
                      <a:endParaRPr sz="1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851</a:t>
                      </a:r>
                      <a:endParaRPr sz="1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</a:t>
                      </a:r>
                      <a:endParaRPr sz="1000" b="1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dimension_fragrance_scent</a:t>
                      </a:r>
                      <a:endParaRPr sz="1000" b="1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smell, scent, smells, deodorant, soap</a:t>
                      </a:r>
                      <a:endParaRPr sz="1000" b="1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538</a:t>
                      </a:r>
                      <a:endParaRPr sz="1000" b="1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6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</a:t>
                      </a:r>
                      <a:endParaRPr sz="1000" b="1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dimension_packaging_bottle_pump</a:t>
                      </a:r>
                      <a:endParaRPr sz="1000" b="1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bottle, bottles,  pump, broken, opened</a:t>
                      </a:r>
                      <a:endParaRPr sz="1000" b="1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349</a:t>
                      </a:r>
                      <a:endParaRPr sz="1000" b="1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6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</a:t>
                      </a:r>
                      <a:endParaRPr sz="1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product_nail_products</a:t>
                      </a:r>
                      <a:endParaRPr sz="1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nail, nails, polish, gel, coat</a:t>
                      </a:r>
                      <a:endParaRPr sz="1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332</a:t>
                      </a:r>
                      <a:endParaRPr sz="1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6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</a:t>
                      </a:r>
                      <a:endParaRPr sz="1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product_hair_tools_clips_shavers</a:t>
                      </a:r>
                      <a:endParaRPr sz="1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hair, clips, blades, comb, shaver</a:t>
                      </a:r>
                      <a:endParaRPr sz="1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277</a:t>
                      </a:r>
                      <a:endParaRPr sz="1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6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7</a:t>
                      </a:r>
                      <a:endParaRPr sz="1000" b="1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dimension_color_shade</a:t>
                      </a:r>
                      <a:endParaRPr sz="1000" b="1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color, colors, purple, blonde, palette</a:t>
                      </a:r>
                      <a:endParaRPr sz="1000" b="1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235</a:t>
                      </a:r>
                      <a:endParaRPr sz="1000" b="1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07" name="Google Shape;207;p33"/>
          <p:cNvSpPr txBox="1">
            <a:spLocks noGrp="1"/>
          </p:cNvSpPr>
          <p:nvPr>
            <p:ph type="title"/>
          </p:nvPr>
        </p:nvSpPr>
        <p:spPr>
          <a:xfrm>
            <a:off x="628650" y="4858"/>
            <a:ext cx="7886700" cy="994200"/>
          </a:xfrm>
          <a:prstGeom prst="rect">
            <a:avLst/>
          </a:prstGeom>
        </p:spPr>
        <p:txBody>
          <a:bodyPr spcFirstLastPara="1" wrap="square" lIns="0" tIns="45700" rIns="0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Unsupervised Machine Learning</a:t>
            </a:r>
            <a:endParaRPr sz="2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2" name="Google Shape;212;p34"/>
          <p:cNvGraphicFramePr/>
          <p:nvPr/>
        </p:nvGraphicFramePr>
        <p:xfrm>
          <a:off x="628638" y="1361678"/>
          <a:ext cx="7654675" cy="2845100"/>
        </p:xfrm>
        <a:graphic>
          <a:graphicData uri="http://schemas.openxmlformats.org/drawingml/2006/table">
            <a:tbl>
              <a:tblPr>
                <a:noFill/>
                <a:tableStyleId>{B707DE10-15DF-4BC5-B357-16A096A19214}</a:tableStyleId>
              </a:tblPr>
              <a:tblGrid>
                <a:gridCol w="804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2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4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3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7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2"/>
                          </a:solidFill>
                        </a:rPr>
                        <a:t>Topic ID</a:t>
                      </a:r>
                      <a:endParaRPr sz="1000" b="1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2"/>
                          </a:solidFill>
                        </a:rPr>
                        <a:t>Topic Name</a:t>
                      </a:r>
                      <a:endParaRPr sz="1000" b="1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2"/>
                          </a:solidFill>
                        </a:rPr>
                        <a:t>Top Keywords</a:t>
                      </a:r>
                      <a:endParaRPr sz="1000" b="1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2"/>
                          </a:solidFill>
                        </a:rPr>
                        <a:t>Number of Reviews</a:t>
                      </a:r>
                      <a:endParaRPr sz="1000" b="1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8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product_brushes_bristles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brush, brushes, bristles, dog, hair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170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9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product_glue_tape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stick, sticky, glue, tape, adhesive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111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10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product_dental_tools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teeth, dentist, plaque, dental, cleaning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63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2"/>
                          </a:solidFill>
                        </a:rPr>
                        <a:t>11</a:t>
                      </a:r>
                      <a:endParaRPr sz="1000" b="1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2"/>
                          </a:solidFill>
                        </a:rPr>
                        <a:t>dimension_durability</a:t>
                      </a:r>
                      <a:endParaRPr sz="1000" b="1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2"/>
                          </a:solidFill>
                        </a:rPr>
                        <a:t>broke, broken, apart, plastic, fell</a:t>
                      </a:r>
                      <a:endParaRPr sz="1000" b="1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2"/>
                          </a:solidFill>
                        </a:rPr>
                        <a:t>50</a:t>
                      </a:r>
                      <a:endParaRPr sz="1000" b="1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12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product_waxing_hair_removal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wax, waxing, hair, roll, legs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46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13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product_dryer_diffuser_fit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diffuser, dryer, hair dryer, orchid, fit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36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A6A6A6"/>
                          </a:solidFill>
                        </a:rPr>
                        <a:t>-1</a:t>
                      </a:r>
                      <a:endParaRPr sz="1000">
                        <a:solidFill>
                          <a:srgbClr val="A6A6A6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A6A6A6"/>
                          </a:solidFill>
                        </a:rPr>
                        <a:t>unassigned</a:t>
                      </a:r>
                      <a:endParaRPr sz="1000">
                        <a:solidFill>
                          <a:srgbClr val="A6A6A6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A6A6A6"/>
                          </a:solidFill>
                        </a:rPr>
                        <a:t>smell, hair, scent, color, quality</a:t>
                      </a:r>
                      <a:endParaRPr sz="1000">
                        <a:solidFill>
                          <a:srgbClr val="A6A6A6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A6A6A6"/>
                          </a:solidFill>
                        </a:rPr>
                        <a:t>1707</a:t>
                      </a:r>
                      <a:endParaRPr sz="1000">
                        <a:solidFill>
                          <a:srgbClr val="A6A6A6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13" name="Google Shape;213;p34"/>
          <p:cNvSpPr txBox="1">
            <a:spLocks noGrp="1"/>
          </p:cNvSpPr>
          <p:nvPr>
            <p:ph type="title"/>
          </p:nvPr>
        </p:nvSpPr>
        <p:spPr>
          <a:xfrm>
            <a:off x="628650" y="4858"/>
            <a:ext cx="7886700" cy="994200"/>
          </a:xfrm>
          <a:prstGeom prst="rect">
            <a:avLst/>
          </a:prstGeom>
        </p:spPr>
        <p:txBody>
          <a:bodyPr spcFirstLastPara="1" wrap="square" lIns="0" tIns="45700" rIns="0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Unsupervised Machine Learning</a:t>
            </a:r>
            <a:endParaRPr sz="2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8" name="Google Shape;218;p35"/>
          <p:cNvGraphicFramePr/>
          <p:nvPr/>
        </p:nvGraphicFramePr>
        <p:xfrm>
          <a:off x="1611025" y="1277028"/>
          <a:ext cx="5921925" cy="2773575"/>
        </p:xfrm>
        <a:graphic>
          <a:graphicData uri="http://schemas.openxmlformats.org/drawingml/2006/table">
            <a:tbl>
              <a:tblPr>
                <a:noFill/>
                <a:tableStyleId>{B707DE10-15DF-4BC5-B357-16A096A19214}</a:tableStyleId>
              </a:tblPr>
              <a:tblGrid>
                <a:gridCol w="1973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3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3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Product </a:t>
                      </a:r>
                      <a:endParaRPr sz="1000" b="1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Grucioso Gel Nail Polish Set</a:t>
                      </a:r>
                      <a:endParaRPr sz="1000" b="1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Sekaler Heated Eyelash Curler</a:t>
                      </a:r>
                      <a:endParaRPr sz="1000" b="1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size/quality/value </a:t>
                      </a:r>
                      <a:endParaRPr sz="1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2.59</a:t>
                      </a:r>
                      <a:endParaRPr sz="1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2.67</a:t>
                      </a:r>
                      <a:endParaRPr sz="1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scent </a:t>
                      </a:r>
                      <a:endParaRPr sz="1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/</a:t>
                      </a:r>
                      <a:endParaRPr sz="1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/</a:t>
                      </a:r>
                      <a:endParaRPr sz="1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packaging </a:t>
                      </a:r>
                      <a:endParaRPr sz="1000" b="1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4.39</a:t>
                      </a:r>
                      <a:endParaRPr sz="1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/</a:t>
                      </a:r>
                      <a:endParaRPr sz="1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color</a:t>
                      </a:r>
                      <a:endParaRPr sz="1000" b="1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4.27</a:t>
                      </a:r>
                      <a:endParaRPr sz="1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/</a:t>
                      </a:r>
                      <a:endParaRPr sz="1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durability</a:t>
                      </a:r>
                      <a:endParaRPr sz="1000" b="1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/</a:t>
                      </a:r>
                      <a:endParaRPr sz="1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1.11</a:t>
                      </a:r>
                      <a:endParaRPr sz="1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predicted rating</a:t>
                      </a:r>
                      <a:endParaRPr sz="1000" b="1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DADA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3.76</a:t>
                      </a:r>
                      <a:endParaRPr sz="1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3.30</a:t>
                      </a:r>
                      <a:endParaRPr sz="1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9" name="Google Shape;219;p35"/>
          <p:cNvSpPr txBox="1">
            <a:spLocks noGrp="1"/>
          </p:cNvSpPr>
          <p:nvPr>
            <p:ph type="title"/>
          </p:nvPr>
        </p:nvSpPr>
        <p:spPr>
          <a:xfrm>
            <a:off x="628650" y="4858"/>
            <a:ext cx="7886700" cy="994200"/>
          </a:xfrm>
          <a:prstGeom prst="rect">
            <a:avLst/>
          </a:prstGeom>
        </p:spPr>
        <p:txBody>
          <a:bodyPr spcFirstLastPara="1" wrap="square" lIns="0" tIns="45700" rIns="0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How are individual products rated on each dimension</a:t>
            </a:r>
            <a:endParaRPr sz="2400"/>
          </a:p>
        </p:txBody>
      </p:sp>
      <p:sp>
        <p:nvSpPr>
          <p:cNvPr id="220" name="Google Shape;220;p35"/>
          <p:cNvSpPr txBox="1"/>
          <p:nvPr/>
        </p:nvSpPr>
        <p:spPr>
          <a:xfrm>
            <a:off x="1611025" y="4050600"/>
            <a:ext cx="10479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rating: 5pt</a:t>
            </a:r>
            <a:endParaRPr sz="1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6"/>
          <p:cNvSpPr txBox="1">
            <a:spLocks noGrp="1"/>
          </p:cNvSpPr>
          <p:nvPr>
            <p:ph type="title"/>
          </p:nvPr>
        </p:nvSpPr>
        <p:spPr>
          <a:xfrm>
            <a:off x="628650" y="4858"/>
            <a:ext cx="7886700" cy="994200"/>
          </a:xfrm>
          <a:prstGeom prst="rect">
            <a:avLst/>
          </a:prstGeom>
        </p:spPr>
        <p:txBody>
          <a:bodyPr spcFirstLastPara="1" wrap="square" lIns="0" tIns="45700" rIns="0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Conclusion</a:t>
            </a:r>
            <a:endParaRPr sz="2400"/>
          </a:p>
        </p:txBody>
      </p:sp>
      <p:sp>
        <p:nvSpPr>
          <p:cNvPr id="226" name="Google Shape;226;p36"/>
          <p:cNvSpPr txBox="1">
            <a:spLocks noGrp="1"/>
          </p:cNvSpPr>
          <p:nvPr>
            <p:ph type="body" idx="1"/>
          </p:nvPr>
        </p:nvSpPr>
        <p:spPr>
          <a:xfrm>
            <a:off x="628650" y="1268725"/>
            <a:ext cx="7886700" cy="3744300"/>
          </a:xfrm>
          <a:prstGeom prst="rect">
            <a:avLst/>
          </a:prstGeom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/>
              <a:t>RQ1: Can customer review text be used to </a:t>
            </a:r>
            <a:r>
              <a:rPr lang="en" sz="1500" b="1"/>
              <a:t>predict</a:t>
            </a:r>
            <a:r>
              <a:rPr lang="en" sz="1500"/>
              <a:t> whether a review corresponds to a high or low product rating?</a:t>
            </a:r>
            <a:endParaRPr sz="1500"/>
          </a:p>
          <a:p>
            <a:pPr marL="457200" lvl="0" indent="-3238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Customer reviews can predict the high or low rating of a product with logistic regression classifier, decision tree classifier, and random forest classifier. The logistic regression classifier has the strongest prediction ability.</a:t>
            </a:r>
            <a:endParaRPr sz="15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/>
              <a:t>RQ2: What are the distinct rating </a:t>
            </a:r>
            <a:r>
              <a:rPr lang="en" sz="1500" b="1"/>
              <a:t>dimensions</a:t>
            </a:r>
            <a:r>
              <a:rPr lang="en" sz="1500"/>
              <a:t> that customers emphasize when reviewing beauty products?</a:t>
            </a:r>
            <a:endParaRPr sz="1500"/>
          </a:p>
          <a:p>
            <a:pPr marL="457200" lvl="0" indent="-3238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5 out of 14 topics identified by BERTopic are about dimensions of products: 1) size, quality and value, 2) scent, 3) packaging, 4) color, 5) durability.</a:t>
            </a:r>
            <a:endParaRPr sz="15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/>
              <a:t>RQ3: How are individual products rated on each dimension based on the predicted rating and topics?</a:t>
            </a:r>
            <a:endParaRPr sz="1500"/>
          </a:p>
          <a:p>
            <a:pPr marL="457200" lvl="0" indent="-3238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By applying machine learning methods to review text, we can measure product performance across key aspects.</a:t>
            </a: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1511</Words>
  <Application>Microsoft Office PowerPoint</Application>
  <PresentationFormat>全屏显示(16:9)</PresentationFormat>
  <Paragraphs>243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7" baseType="lpstr">
      <vt:lpstr>Arial</vt:lpstr>
      <vt:lpstr>Helvetica Neue</vt:lpstr>
      <vt:lpstr>Roboto</vt:lpstr>
      <vt:lpstr>Merriweather</vt:lpstr>
      <vt:lpstr>Paradigm</vt:lpstr>
      <vt:lpstr>Predicting Customer Ratings of Beauty Products Based on Amazon Reviews </vt:lpstr>
      <vt:lpstr>Research Questions</vt:lpstr>
      <vt:lpstr>Data</vt:lpstr>
      <vt:lpstr>Data</vt:lpstr>
      <vt:lpstr>Data</vt:lpstr>
      <vt:lpstr>Exploratory Data Analysis</vt:lpstr>
      <vt:lpstr>Exploratory Data Analysis</vt:lpstr>
      <vt:lpstr>Exploratory Data Analysis</vt:lpstr>
      <vt:lpstr>Exploratory Data Analysis</vt:lpstr>
      <vt:lpstr>Supervised Machine Learning</vt:lpstr>
      <vt:lpstr>Supervised Machine Learning</vt:lpstr>
      <vt:lpstr>Supervised Machine Learning</vt:lpstr>
      <vt:lpstr>Supervised Machine Learning</vt:lpstr>
      <vt:lpstr>Supervised Machine Learning</vt:lpstr>
      <vt:lpstr>Supervised Machine Learning</vt:lpstr>
      <vt:lpstr>Supervised Machine Learning</vt:lpstr>
      <vt:lpstr>Unsupervised Machine Learning</vt:lpstr>
      <vt:lpstr>Unsupervised Machine Learning</vt:lpstr>
      <vt:lpstr>Unsupervised Machine Learning</vt:lpstr>
      <vt:lpstr>Unsupervised Machine Learning</vt:lpstr>
      <vt:lpstr>How are individual products rated on each dimension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Yanran Qiu</cp:lastModifiedBy>
  <cp:revision>2</cp:revision>
  <dcterms:modified xsi:type="dcterms:W3CDTF">2026-03-09T20:05:39Z</dcterms:modified>
  <cp:contentStatus/>
</cp:coreProperties>
</file>